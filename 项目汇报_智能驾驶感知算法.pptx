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96D6"/>
                </a:solidFill>
                <a:latin typeface="微软雅黑"/>
              </a:defRPr>
            </a:pPr>
            <a:r>
              <a:t>智能驾驶感知算法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65176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微软雅黑"/>
              </a:defRPr>
            </a:pPr>
            <a:r>
              <a:t>项目进展汇报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3657600"/>
            <a:ext cx="3047695" cy="36576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39319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CCCCC"/>
                </a:solidFill>
                <a:latin typeface="微软雅黑"/>
              </a:defRPr>
            </a:pPr>
            <a:r>
              <a:t>项目一：基于YOLO的2D障碍物检测  |  项目二：基于CenterPoint的3D目标检测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029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CCCC"/>
                </a:solidFill>
                <a:latin typeface="微软雅黑"/>
              </a:defRPr>
            </a:pPr>
            <a:r>
              <a:t>汇报日期：2026年3月17日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73152" cy="4572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微软雅黑"/>
              </a:defRPr>
            </a:pPr>
            <a:r>
              <a:t>汇报提纲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645920"/>
            <a:ext cx="9144000" cy="914400"/>
          </a:xfrm>
          <a:prstGeom prst="roundRect">
            <a:avLst/>
          </a:prstGeom>
          <a:solidFill>
            <a:srgbClr val="2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173736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96D6"/>
                </a:solidFill>
                <a:latin typeface="微软雅黑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0" y="1719072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微软雅黑"/>
              </a:defRPr>
            </a:pPr>
            <a:r>
              <a:t>项目一：基于YOLO的2D障碍物检测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0" y="214884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微软雅黑"/>
              </a:defRPr>
            </a:pPr>
            <a:r>
              <a:t>算法原理与实验验证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2834640"/>
            <a:ext cx="9144000" cy="914400"/>
          </a:xfrm>
          <a:prstGeom prst="roundRect">
            <a:avLst/>
          </a:prstGeom>
          <a:solidFill>
            <a:srgbClr val="2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45920" y="292608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C98D"/>
                </a:solidFill>
                <a:latin typeface="微软雅黑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2907792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微软雅黑"/>
              </a:defRPr>
            </a:pPr>
            <a:r>
              <a:t>项目二：基于CenterPoint的3D目标检测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333756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微软雅黑"/>
              </a:defRPr>
            </a:pPr>
            <a:r>
              <a:t>结构图重绘与结果验证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71600" y="4023360"/>
            <a:ext cx="9144000" cy="914400"/>
          </a:xfrm>
          <a:prstGeom prst="roundRect">
            <a:avLst/>
          </a:prstGeom>
          <a:solidFill>
            <a:srgbClr val="2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45920" y="411480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8C00"/>
                </a:solidFill>
                <a:latin typeface="微软雅黑"/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4096512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微软雅黑"/>
              </a:defRPr>
            </a:pPr>
            <a:r>
              <a:t>实验平台搭建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0" y="452628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微软雅黑"/>
              </a:defRPr>
            </a:pPr>
            <a:r>
              <a:t>智能小车组装完成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371600" y="5212080"/>
            <a:ext cx="9144000" cy="914400"/>
          </a:xfrm>
          <a:prstGeom prst="roundRect">
            <a:avLst/>
          </a:prstGeom>
          <a:solidFill>
            <a:srgbClr val="2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645920" y="530352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0567E"/>
                </a:solidFill>
                <a:latin typeface="微软雅黑"/>
              </a:defRPr>
            </a:pPr>
            <a: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0" y="5285232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微软雅黑"/>
              </a:defRPr>
            </a:pPr>
            <a:r>
              <a:t>下一步计划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60320" y="57150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微软雅黑"/>
              </a:defRPr>
            </a:pPr>
            <a:r>
              <a:t>算法部署与车载验证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73152" cy="4572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微软雅黑"/>
              </a:defRPr>
            </a:pPr>
            <a:r>
              <a:t>项目一：基于YOLO的2D障碍物检测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303520" cy="4754880"/>
          </a:xfrm>
          <a:prstGeom prst="roundRect">
            <a:avLst/>
          </a:prstGeom>
          <a:solidFill>
            <a:srgbClr val="2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554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96D6"/>
                </a:solidFill>
                <a:latin typeface="微软雅黑"/>
              </a:defRPr>
            </a:pPr>
            <a:r>
              <a:t>算法概述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0312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CCCCCC"/>
                </a:solidFill>
                <a:latin typeface="微软雅黑"/>
              </a:defRPr>
            </a:pPr>
            <a:r>
              <a:t>  采用 YOLOv5 与 YOLO11 系列模型</a:t>
            </a:r>
          </a:p>
          <a:p>
            <a:pPr>
              <a:spcAft>
                <a:spcPts val="800"/>
              </a:spcAft>
              <a:defRPr sz="1500">
                <a:solidFill>
                  <a:srgbClr val="CCCCCC"/>
                </a:solidFill>
                <a:latin typeface="微软雅黑"/>
              </a:defRPr>
            </a:pPr>
            <a:r>
              <a:t>  针对自动驾驶场景进行障碍物检测</a:t>
            </a:r>
          </a:p>
          <a:p>
            <a:pPr>
              <a:spcAft>
                <a:spcPts val="800"/>
              </a:spcAft>
              <a:defRPr sz="1500">
                <a:solidFill>
                  <a:srgbClr val="CCCCCC"/>
                </a:solidFill>
                <a:latin typeface="微软雅黑"/>
              </a:defRPr>
            </a:pPr>
            <a:r>
              <a:t>  支持多类别目标：车辆、行人、卡车、</a:t>
            </a:r>
          </a:p>
          <a:p>
            <a:pPr>
              <a:spcAft>
                <a:spcPts val="800"/>
              </a:spcAft>
              <a:defRPr sz="1500">
                <a:solidFill>
                  <a:srgbClr val="CCCCCC"/>
                </a:solidFill>
                <a:latin typeface="微软雅黑"/>
              </a:defRPr>
            </a:pPr>
            <a:r>
              <a:t>  自行车、摩托车、交通灯等</a:t>
            </a:r>
          </a:p>
          <a:p>
            <a:pPr>
              <a:spcAft>
                <a:spcPts val="800"/>
              </a:spcAft>
              <a:defRPr sz="1500">
                <a:solidFill>
                  <a:srgbClr val="CCCCCC"/>
                </a:solidFill>
                <a:latin typeface="微软雅黑"/>
              </a:defRPr>
            </a:pPr>
            <a:r>
              <a:t>  在 nuScenes 数据集上完成验证</a:t>
            </a:r>
          </a:p>
          <a:p>
            <a:pPr>
              <a:spcAft>
                <a:spcPts val="800"/>
              </a:spcAft>
              <a:defRPr sz="1500">
                <a:solidFill>
                  <a:srgbClr val="CCCCCC"/>
                </a:solidFill>
                <a:latin typeface="微软雅黑"/>
              </a:defRPr>
            </a:pPr>
            <a:r>
              <a:t>  模型对比：n / s / m / l 四种规格</a:t>
            </a:r>
          </a:p>
          <a:p>
            <a:pPr>
              <a:spcAft>
                <a:spcPts val="800"/>
              </a:spcAft>
              <a:defRPr sz="1500">
                <a:solidFill>
                  <a:srgbClr val="CCCCCC"/>
                </a:solidFill>
                <a:latin typeface="微软雅黑"/>
              </a:defRPr>
            </a:pPr>
            <a:r>
              <a:t>  兼顾检测精度与推理速度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371600"/>
            <a:ext cx="5029200" cy="4754880"/>
          </a:xfrm>
          <a:prstGeom prst="roundRect">
            <a:avLst/>
          </a:prstGeom>
          <a:solidFill>
            <a:srgbClr val="2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1554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96D6"/>
                </a:solidFill>
                <a:latin typeface="微软雅黑"/>
              </a:defRPr>
            </a:pPr>
            <a:r>
              <a:t>核心指标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21945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CCCCC"/>
                </a:solidFill>
                <a:latin typeface="微软雅黑"/>
              </a:defRPr>
            </a:pPr>
            <a:r>
              <a:t>检测帧数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21945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C98D"/>
                </a:solidFill>
                <a:latin typeface="微软雅黑"/>
              </a:defRPr>
            </a:pPr>
            <a:r>
              <a:t>81 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834639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CCCCC"/>
                </a:solidFill>
                <a:latin typeface="微软雅黑"/>
              </a:defRPr>
            </a:pPr>
            <a:r>
              <a:t>总检测数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83463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C98D"/>
                </a:solidFill>
                <a:latin typeface="微软雅黑"/>
              </a:defRPr>
            </a:pPr>
            <a:r>
              <a:t>1,107 个目标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34747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CCCCC"/>
                </a:solidFill>
                <a:latin typeface="微软雅黑"/>
              </a:defRPr>
            </a:pPr>
            <a:r>
              <a:t>平均推理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3474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C98D"/>
                </a:solidFill>
                <a:latin typeface="微软雅黑"/>
              </a:defRPr>
            </a:pPr>
            <a:r>
              <a:t>56.0 ms / 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41148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CCCCC"/>
                </a:solidFill>
                <a:latin typeface="微软雅黑"/>
              </a:defRPr>
            </a:pPr>
            <a:r>
              <a:t>实时帧率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4114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C98D"/>
                </a:solidFill>
                <a:latin typeface="微软雅黑"/>
              </a:defRPr>
            </a:pPr>
            <a:r>
              <a:t>17.8 FPS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4754879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CCCCC"/>
                </a:solidFill>
                <a:latin typeface="微软雅黑"/>
              </a:defRPr>
            </a:pPr>
            <a:r>
              <a:t>动态目标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475487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C98D"/>
                </a:solidFill>
                <a:latin typeface="微软雅黑"/>
              </a:defRPr>
            </a:pPr>
            <a:r>
              <a:t>车辆833 / 行人161 / 卡车30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53949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CCCCC"/>
                </a:solidFill>
                <a:latin typeface="微软雅黑"/>
              </a:defRPr>
            </a:pPr>
            <a:r>
              <a:t>静态目标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53949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C98D"/>
                </a:solidFill>
                <a:latin typeface="微软雅黑"/>
              </a:defRPr>
            </a:pPr>
            <a:r>
              <a:t>交通灯 31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73152" cy="4572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微软雅黑"/>
              </a:defRPr>
            </a:pPr>
            <a:r>
              <a:t>项目一：YOLO 检测效果展示</a:t>
            </a:r>
          </a:p>
        </p:txBody>
      </p:sp>
      <p:pic>
        <p:nvPicPr>
          <p:cNvPr id="4" name="Picture 3" descr="detect_front_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858000" cy="411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57784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微软雅黑"/>
              </a:defRPr>
            </a:pPr>
            <a:r>
              <a:t>YOLO11m 检测结果：识别车辆、行人、交通灯等多类别目标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371600"/>
            <a:ext cx="3474720" cy="4754880"/>
          </a:xfrm>
          <a:prstGeom prst="roundRect">
            <a:avLst/>
          </a:prstGeom>
          <a:solidFill>
            <a:srgbClr val="2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0" y="15544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96D6"/>
                </a:solidFill>
                <a:latin typeface="微软雅黑"/>
              </a:defRPr>
            </a:pPr>
            <a:r>
              <a:t>检测能力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2194560"/>
            <a:ext cx="3108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CCCCCC"/>
                </a:solidFill>
                <a:latin typeface="微软雅黑"/>
              </a:defRPr>
            </a:pPr>
            <a:r>
              <a:t>  动态目标检测</a:t>
            </a:r>
          </a:p>
          <a:p>
            <a:pPr>
              <a:spcAft>
                <a:spcPts val="800"/>
              </a:spcAft>
              <a:defRPr sz="1300">
                <a:solidFill>
                  <a:srgbClr val="CCCCCC"/>
                </a:solidFill>
                <a:latin typeface="微软雅黑"/>
              </a:defRPr>
            </a:pPr>
            <a:r>
              <a:t>  - 车辆 (car)</a:t>
            </a:r>
          </a:p>
          <a:p>
            <a:pPr>
              <a:spcAft>
                <a:spcPts val="800"/>
              </a:spcAft>
              <a:defRPr sz="1300">
                <a:solidFill>
                  <a:srgbClr val="CCCCCC"/>
                </a:solidFill>
                <a:latin typeface="微软雅黑"/>
              </a:defRPr>
            </a:pPr>
            <a:r>
              <a:t>  - 行人 (person)</a:t>
            </a:r>
          </a:p>
          <a:p>
            <a:pPr>
              <a:spcAft>
                <a:spcPts val="800"/>
              </a:spcAft>
              <a:defRPr sz="1300">
                <a:solidFill>
                  <a:srgbClr val="CCCCCC"/>
                </a:solidFill>
                <a:latin typeface="微软雅黑"/>
              </a:defRPr>
            </a:pPr>
            <a:r>
              <a:t>  - 卡车 (truck)</a:t>
            </a:r>
          </a:p>
          <a:p>
            <a:pPr>
              <a:spcAft>
                <a:spcPts val="800"/>
              </a:spcAft>
              <a:defRPr sz="1300">
                <a:solidFill>
                  <a:srgbClr val="CCCCCC"/>
                </a:solidFill>
                <a:latin typeface="微软雅黑"/>
              </a:defRPr>
            </a:pPr>
            <a:r>
              <a:t>  - 自行车 (bicycle)</a:t>
            </a:r>
          </a:p>
          <a:p>
            <a:pPr>
              <a:spcAft>
                <a:spcPts val="800"/>
              </a:spcAft>
              <a:defRPr sz="1300">
                <a:solidFill>
                  <a:srgbClr val="CCCCCC"/>
                </a:solidFill>
                <a:latin typeface="微软雅黑"/>
              </a:defRPr>
            </a:pPr>
            <a:r>
              <a:t>  - 摩托车 (motorcycle)</a:t>
            </a:r>
          </a:p>
          <a:p>
            <a:pPr>
              <a:spcAft>
                <a:spcPts val="800"/>
              </a:spcAft>
              <a:defRPr sz="1300">
                <a:solidFill>
                  <a:srgbClr val="CCCCCC"/>
                </a:solidFill>
                <a:latin typeface="微软雅黑"/>
              </a:defRPr>
            </a:pPr>
          </a:p>
          <a:p>
            <a:pPr>
              <a:spcAft>
                <a:spcPts val="800"/>
              </a:spcAft>
              <a:defRPr sz="1300">
                <a:solidFill>
                  <a:srgbClr val="CCCCCC"/>
                </a:solidFill>
                <a:latin typeface="微软雅黑"/>
              </a:defRPr>
            </a:pPr>
            <a:r>
              <a:t>  静态目标检测</a:t>
            </a:r>
          </a:p>
          <a:p>
            <a:pPr>
              <a:spcAft>
                <a:spcPts val="800"/>
              </a:spcAft>
              <a:defRPr sz="1300">
                <a:solidFill>
                  <a:srgbClr val="CCCCCC"/>
                </a:solidFill>
                <a:latin typeface="微软雅黑"/>
              </a:defRPr>
            </a:pPr>
            <a:r>
              <a:t>  - 交通灯 (traffic light)</a:t>
            </a:r>
          </a:p>
          <a:p>
            <a:pPr>
              <a:spcAft>
                <a:spcPts val="800"/>
              </a:spcAft>
              <a:defRPr sz="1300">
                <a:solidFill>
                  <a:srgbClr val="CCCCCC"/>
                </a:solidFill>
                <a:latin typeface="微软雅黑"/>
              </a:defRPr>
            </a:pPr>
          </a:p>
          <a:p>
            <a:pPr>
              <a:spcAft>
                <a:spcPts val="800"/>
              </a:spcAft>
              <a:defRPr sz="1300">
                <a:solidFill>
                  <a:srgbClr val="CCCCCC"/>
                </a:solidFill>
                <a:latin typeface="微软雅黑"/>
              </a:defRPr>
            </a:pPr>
            <a:r>
              <a:t>  多置信度阈值自适应</a:t>
            </a:r>
          </a:p>
          <a:p>
            <a:pPr>
              <a:spcAft>
                <a:spcPts val="800"/>
              </a:spcAft>
              <a:defRPr sz="1300">
                <a:solidFill>
                  <a:srgbClr val="CCCCCC"/>
                </a:solidFill>
                <a:latin typeface="微软雅黑"/>
              </a:defRPr>
            </a:pPr>
            <a:r>
              <a:t>  动态/静态分类标注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73152" cy="4572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微软雅黑"/>
              </a:defRPr>
            </a:pPr>
            <a:r>
              <a:t>项目一：模型性能对比分析</a:t>
            </a:r>
          </a:p>
        </p:txBody>
      </p:sp>
      <p:pic>
        <p:nvPicPr>
          <p:cNvPr id="4" name="Picture 3" descr="model_comparis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7315200" cy="2560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39319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微软雅黑"/>
              </a:defRPr>
            </a:pPr>
            <a:r>
              <a:t>YOLO11 不同规格模型检测效果对比 (n/s/m/l)</a:t>
            </a:r>
          </a:p>
        </p:txBody>
      </p:sp>
      <p:pic>
        <p:nvPicPr>
          <p:cNvPr id="6" name="Picture 5" descr="speed_accuracy_tradeo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4297680"/>
            <a:ext cx="5029200" cy="22860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412480" y="1280160"/>
            <a:ext cx="3200400" cy="5303520"/>
          </a:xfrm>
          <a:prstGeom prst="roundRect">
            <a:avLst/>
          </a:prstGeom>
          <a:solidFill>
            <a:srgbClr val="2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0" y="14630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96D6"/>
                </a:solidFill>
                <a:latin typeface="微软雅黑"/>
              </a:defRPr>
            </a:pPr>
            <a:r>
              <a:t>模型对比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201168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98D"/>
                </a:solidFill>
                <a:latin typeface="微软雅黑"/>
              </a:defRPr>
            </a:pPr>
            <a:r>
              <a:t>模型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0" y="20116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98D"/>
                </a:solidFill>
                <a:latin typeface="微软雅黑"/>
              </a:defRPr>
            </a:pPr>
            <a:r>
              <a:t>参数量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201168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98D"/>
                </a:solidFill>
                <a:latin typeface="微软雅黑"/>
              </a:defRPr>
            </a:pPr>
            <a:r>
              <a:t>延迟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201168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98D"/>
                </a:solidFill>
                <a:latin typeface="微软雅黑"/>
              </a:defRPr>
            </a:pPr>
            <a:r>
              <a:t>帧率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0" y="23774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微软雅黑"/>
              </a:defRPr>
            </a:pPr>
            <a:r>
              <a:t>YOLO11n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0" y="23774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微软雅黑"/>
              </a:defRPr>
            </a:pPr>
            <a:r>
              <a:t>2.6M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237744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微软雅黑"/>
              </a:defRPr>
            </a:pPr>
            <a:r>
              <a:t>22ms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7040" y="23774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C98D"/>
                </a:solidFill>
                <a:latin typeface="微软雅黑"/>
              </a:defRPr>
            </a:pPr>
            <a:r>
              <a:t>45 FPS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0" y="27889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微软雅黑"/>
              </a:defRPr>
            </a:pPr>
            <a:r>
              <a:t>YOLO11s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0" y="27889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微软雅黑"/>
              </a:defRPr>
            </a:pPr>
            <a:r>
              <a:t>9.5M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27889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微软雅黑"/>
              </a:defRPr>
            </a:pPr>
            <a:r>
              <a:t>23ms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27889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C98D"/>
                </a:solidFill>
                <a:latin typeface="微软雅黑"/>
              </a:defRPr>
            </a:pPr>
            <a:r>
              <a:t>43 FPS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0" y="32004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微软雅黑"/>
              </a:defRPr>
            </a:pPr>
            <a:r>
              <a:t>YOLO11m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18320" y="32004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微软雅黑"/>
              </a:defRPr>
            </a:pPr>
            <a:r>
              <a:t>20.1M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0" y="320040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微软雅黑"/>
              </a:defRPr>
            </a:pPr>
            <a:r>
              <a:t>25ms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7040" y="320040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C98D"/>
                </a:solidFill>
                <a:latin typeface="微软雅黑"/>
              </a:defRPr>
            </a:pPr>
            <a:r>
              <a:t>40 FPS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95360" y="361188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微软雅黑"/>
              </a:defRPr>
            </a:pPr>
            <a:r>
              <a:t>YOLO11l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0" y="36118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微软雅黑"/>
              </a:defRPr>
            </a:pPr>
            <a:r>
              <a:t>25.4M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0" y="361188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微软雅黑"/>
              </a:defRPr>
            </a:pPr>
            <a:r>
              <a:t>35ms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07040" y="361188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C98D"/>
                </a:solidFill>
                <a:latin typeface="微软雅黑"/>
              </a:defRPr>
            </a:pPr>
            <a:r>
              <a:t>28 FPS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60" y="411480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微软雅黑"/>
              </a:defRPr>
            </a:pPr>
            <a:r>
              <a:t>结论：YOLO11s 在精度与速度之间</a:t>
            </a:r>
            <a:br/>
            <a:r>
              <a:t>取得最佳平衡，推荐用于车载部署。</a:t>
            </a:r>
            <a:br/>
            <a:br/>
            <a:r>
              <a:t>YOLO11n 适合资源受限的嵌入式</a:t>
            </a:r>
            <a:br/>
            <a:r>
              <a:t>平台（如 Jetson Nano）。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73152" cy="457200"/>
          </a:xfrm>
          <a:prstGeom prst="rect">
            <a:avLst/>
          </a:prstGeom>
          <a:solidFill>
            <a:srgbClr val="00C9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微软雅黑"/>
              </a:defRPr>
            </a:pPr>
            <a:r>
              <a:t>项目二：CenterPoint 结构图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3268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微软雅黑"/>
              </a:defRPr>
            </a:pPr>
            <a:r>
              <a:t>已改为 SVG 矢量重绘，去掉杂乱连线并重新整理结构层次</a:t>
            </a:r>
          </a:p>
        </p:txBody>
      </p:sp>
      <p:pic>
        <p:nvPicPr>
          <p:cNvPr id="5" name="Picture 4" descr="centerpoint_stru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61872"/>
            <a:ext cx="10698480" cy="49834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C9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73152" cy="457200"/>
          </a:xfrm>
          <a:prstGeom prst="rect">
            <a:avLst/>
          </a:prstGeom>
          <a:solidFill>
            <a:srgbClr val="00C9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微软雅黑"/>
              </a:defRPr>
            </a:pPr>
            <a:r>
              <a:t>项目二：CenterPoint 检测效果展示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3268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微软雅黑"/>
              </a:defRPr>
            </a:pPr>
            <a:r>
              <a:t>结果图说明已移到图外，避免图内文字挤压主体内容</a:t>
            </a:r>
          </a:p>
        </p:txBody>
      </p:sp>
      <p:pic>
        <p:nvPicPr>
          <p:cNvPr id="5" name="Picture 4" descr="centerpoint_valid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61872"/>
            <a:ext cx="10698480" cy="49834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C9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73152" cy="4572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微软雅黑"/>
              </a:defRPr>
            </a:pPr>
            <a:r>
              <a:t>实验平台：智能小车组装完成</a:t>
            </a:r>
          </a:p>
        </p:txBody>
      </p:sp>
      <p:pic>
        <p:nvPicPr>
          <p:cNvPr id="4" name="Picture 3" descr="bdf02831db87ad16aa21b8b6e0d0a09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280160"/>
            <a:ext cx="5029200" cy="411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71600" y="54864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微软雅黑"/>
              </a:defRPr>
            </a:pPr>
            <a:r>
              <a:t>基于 NVIDIA Jetson Nano 的智能小车平台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1280160"/>
            <a:ext cx="4572000" cy="4754880"/>
          </a:xfrm>
          <a:prstGeom prst="roundRect">
            <a:avLst/>
          </a:prstGeom>
          <a:solidFill>
            <a:srgbClr val="2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0" y="14630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8C00"/>
                </a:solidFill>
                <a:latin typeface="微软雅黑"/>
              </a:defRPr>
            </a:pPr>
            <a:r>
              <a:t>平台配置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0" y="2103120"/>
            <a:ext cx="4114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CCCCCC"/>
                </a:solidFill>
                <a:latin typeface="微软雅黑"/>
              </a:defRPr>
            </a:pPr>
            <a:r>
              <a:t>  计算平台</a:t>
            </a:r>
          </a:p>
          <a:p>
            <a:pPr>
              <a:spcAft>
                <a:spcPts val="800"/>
              </a:spcAft>
              <a:defRPr sz="1400">
                <a:solidFill>
                  <a:srgbClr val="CCCCCC"/>
                </a:solidFill>
                <a:latin typeface="微软雅黑"/>
              </a:defRPr>
            </a:pPr>
            <a:r>
              <a:t>  - NVIDIA Jetson Nano</a:t>
            </a:r>
          </a:p>
          <a:p>
            <a:pPr>
              <a:spcAft>
                <a:spcPts val="800"/>
              </a:spcAft>
              <a:defRPr sz="1400">
                <a:solidFill>
                  <a:srgbClr val="CCCCCC"/>
                </a:solidFill>
                <a:latin typeface="微软雅黑"/>
              </a:defRPr>
            </a:pPr>
            <a:r>
              <a:t>  - 128核 Maxwell GPU</a:t>
            </a:r>
          </a:p>
          <a:p>
            <a:pPr>
              <a:spcAft>
                <a:spcPts val="800"/>
              </a:spcAft>
              <a:defRPr sz="1400">
                <a:solidFill>
                  <a:srgbClr val="CCCCCC"/>
                </a:solidFill>
                <a:latin typeface="微软雅黑"/>
              </a:defRPr>
            </a:pPr>
            <a:r>
              <a:t>  - 4GB 内存</a:t>
            </a:r>
          </a:p>
          <a:p>
            <a:pPr>
              <a:spcAft>
                <a:spcPts val="800"/>
              </a:spcAft>
              <a:defRPr sz="1400">
                <a:solidFill>
                  <a:srgbClr val="CCCCCC"/>
                </a:solidFill>
                <a:latin typeface="微软雅黑"/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CCCCCC"/>
                </a:solidFill>
                <a:latin typeface="微软雅黑"/>
              </a:defRPr>
            </a:pPr>
            <a:r>
              <a:t>  传感器</a:t>
            </a:r>
          </a:p>
          <a:p>
            <a:pPr>
              <a:spcAft>
                <a:spcPts val="800"/>
              </a:spcAft>
              <a:defRPr sz="1400">
                <a:solidFill>
                  <a:srgbClr val="CCCCCC"/>
                </a:solidFill>
                <a:latin typeface="微软雅黑"/>
              </a:defRPr>
            </a:pPr>
            <a:r>
              <a:t>  - CSI 摄像头（用于2D检测）</a:t>
            </a:r>
          </a:p>
          <a:p>
            <a:pPr>
              <a:spcAft>
                <a:spcPts val="800"/>
              </a:spcAft>
              <a:defRPr sz="1400">
                <a:solidFill>
                  <a:srgbClr val="CCCCCC"/>
                </a:solidFill>
                <a:latin typeface="微软雅黑"/>
              </a:defRPr>
            </a:pPr>
            <a:r>
              <a:t>  - WiFi 天线（远程通信）</a:t>
            </a:r>
          </a:p>
          <a:p>
            <a:pPr>
              <a:spcAft>
                <a:spcPts val="800"/>
              </a:spcAft>
              <a:defRPr sz="1400">
                <a:solidFill>
                  <a:srgbClr val="CCCCCC"/>
                </a:solidFill>
                <a:latin typeface="微软雅黑"/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CCCCCC"/>
                </a:solidFill>
                <a:latin typeface="微软雅黑"/>
              </a:defRPr>
            </a:pPr>
            <a:r>
              <a:t>  执行机构</a:t>
            </a:r>
          </a:p>
          <a:p>
            <a:pPr>
              <a:spcAft>
                <a:spcPts val="800"/>
              </a:spcAft>
              <a:defRPr sz="1400">
                <a:solidFill>
                  <a:srgbClr val="CCCCCC"/>
                </a:solidFill>
                <a:latin typeface="微软雅黑"/>
              </a:defRPr>
            </a:pPr>
            <a:r>
              <a:t>  - 双轮差速驱动底盘</a:t>
            </a:r>
          </a:p>
          <a:p>
            <a:pPr>
              <a:spcAft>
                <a:spcPts val="800"/>
              </a:spcAft>
              <a:defRPr sz="1400">
                <a:solidFill>
                  <a:srgbClr val="CCCCCC"/>
                </a:solidFill>
                <a:latin typeface="微软雅黑"/>
              </a:defRPr>
            </a:pPr>
            <a:r>
              <a:t>  - PWM 电机控制</a:t>
            </a:r>
          </a:p>
          <a:p>
            <a:pPr>
              <a:spcAft>
                <a:spcPts val="800"/>
              </a:spcAft>
              <a:defRPr sz="1400">
                <a:solidFill>
                  <a:srgbClr val="CCCCCC"/>
                </a:solidFill>
                <a:latin typeface="微软雅黑"/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CCCCCC"/>
                </a:solidFill>
                <a:latin typeface="微软雅黑"/>
              </a:defRPr>
            </a:pPr>
            <a:r>
              <a:t>  当前状态：组装完成，待算法移植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0" y="5486400"/>
            <a:ext cx="3840480" cy="457200"/>
          </a:xfrm>
          <a:prstGeom prst="roundRect">
            <a:avLst/>
          </a:prstGeom>
          <a:solidFill>
            <a:srgbClr val="00C9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0" y="553212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硬件平台已就绪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73152" cy="4572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微软雅黑"/>
              </a:defRPr>
            </a:pPr>
            <a:r>
              <a:t>总结与下一步计划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303520" cy="4754880"/>
          </a:xfrm>
          <a:prstGeom prst="roundRect">
            <a:avLst/>
          </a:prstGeom>
          <a:solidFill>
            <a:srgbClr val="2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554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96D6"/>
                </a:solidFill>
                <a:latin typeface="微软雅黑"/>
              </a:defRPr>
            </a:pPr>
            <a:r>
              <a:t>当前进展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1945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微软雅黑"/>
              </a:defRPr>
            </a:pPr>
            <a:r>
              <a:t>项目一 - YOLO 2D检测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2194560"/>
            <a:ext cx="1371600" cy="320040"/>
          </a:xfrm>
          <a:prstGeom prst="roundRect">
            <a:avLst/>
          </a:prstGeom>
          <a:solidFill>
            <a:srgbClr val="00C9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0" y="21945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算法验证完成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0175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微软雅黑"/>
              </a:defRPr>
            </a:pPr>
            <a:r>
              <a:t>项目二 - CenterPoint 3D检测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3017520"/>
            <a:ext cx="1371600" cy="320040"/>
          </a:xfrm>
          <a:prstGeom prst="roundRect">
            <a:avLst/>
          </a:prstGeom>
          <a:solidFill>
            <a:srgbClr val="00C9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3017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结构图与结果页优化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8404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微软雅黑"/>
              </a:defRPr>
            </a:pPr>
            <a:r>
              <a:t>智能小车平台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3840480"/>
            <a:ext cx="1371600" cy="320040"/>
          </a:xfrm>
          <a:prstGeom prst="roundRect">
            <a:avLst/>
          </a:prstGeom>
          <a:solidFill>
            <a:srgbClr val="00C9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0" y="38404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组装完成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46634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微软雅黑"/>
              </a:defRPr>
            </a:pPr>
            <a:r>
              <a:t>算法车载部署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4663440"/>
            <a:ext cx="1371600" cy="320040"/>
          </a:xfrm>
          <a:prstGeom prst="round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0" y="46634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待进行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54864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C98D"/>
                </a:solidFill>
                <a:latin typeface="微软雅黑"/>
              </a:defRPr>
            </a:pPr>
            <a:r>
              <a:t>整体进度：感知算法与汇报材料均已整理，即将进入部署阶段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371600"/>
            <a:ext cx="5029200" cy="4754880"/>
          </a:xfrm>
          <a:prstGeom prst="roundRect">
            <a:avLst/>
          </a:prstGeom>
          <a:solidFill>
            <a:srgbClr val="2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0" y="1554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8C00"/>
                </a:solidFill>
                <a:latin typeface="微软雅黑"/>
              </a:defRPr>
            </a:pPr>
            <a:r>
              <a:t>下一步计划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219456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CCCCCC"/>
                </a:solidFill>
                <a:latin typeface="微软雅黑"/>
              </a:defRPr>
            </a:pPr>
            <a:r>
              <a:t>  1. YOLO模型移植到 Jetson Nano</a:t>
            </a:r>
          </a:p>
          <a:p>
            <a:pPr>
              <a:spcAft>
                <a:spcPts val="800"/>
              </a:spcAft>
              <a:defRPr sz="1300">
                <a:solidFill>
                  <a:srgbClr val="CCCCCC"/>
                </a:solidFill>
                <a:latin typeface="微软雅黑"/>
              </a:defRPr>
            </a:pPr>
            <a:r>
              <a:t>     - TensorRT 模型优化加速</a:t>
            </a:r>
          </a:p>
          <a:p>
            <a:pPr>
              <a:spcAft>
                <a:spcPts val="800"/>
              </a:spcAft>
              <a:defRPr sz="1300">
                <a:solidFill>
                  <a:srgbClr val="CCCCCC"/>
                </a:solidFill>
                <a:latin typeface="微软雅黑"/>
              </a:defRPr>
            </a:pPr>
            <a:r>
              <a:t>     - 摄像头实时推理测试</a:t>
            </a:r>
          </a:p>
          <a:p>
            <a:pPr>
              <a:spcAft>
                <a:spcPts val="800"/>
              </a:spcAft>
              <a:defRPr sz="1300">
                <a:solidFill>
                  <a:srgbClr val="CCCCCC"/>
                </a:solidFill>
                <a:latin typeface="微软雅黑"/>
              </a:defRPr>
            </a:pPr>
          </a:p>
          <a:p>
            <a:pPr>
              <a:spcAft>
                <a:spcPts val="800"/>
              </a:spcAft>
              <a:defRPr sz="1300">
                <a:solidFill>
                  <a:srgbClr val="CCCCCC"/>
                </a:solidFill>
                <a:latin typeface="微软雅黑"/>
              </a:defRPr>
            </a:pPr>
            <a:r>
              <a:t>  2. CenterPoint 算法适配</a:t>
            </a:r>
          </a:p>
          <a:p>
            <a:pPr>
              <a:spcAft>
                <a:spcPts val="800"/>
              </a:spcAft>
              <a:defRPr sz="1300">
                <a:solidFill>
                  <a:srgbClr val="CCCCCC"/>
                </a:solidFill>
                <a:latin typeface="微软雅黑"/>
              </a:defRPr>
            </a:pPr>
            <a:r>
              <a:t>     - 模型轻量化与推理优化</a:t>
            </a:r>
          </a:p>
          <a:p>
            <a:pPr>
              <a:spcAft>
                <a:spcPts val="800"/>
              </a:spcAft>
              <a:defRPr sz="1300">
                <a:solidFill>
                  <a:srgbClr val="CCCCCC"/>
                </a:solidFill>
                <a:latin typeface="微软雅黑"/>
              </a:defRPr>
            </a:pPr>
            <a:r>
              <a:t>     - 传感器数据接口对接</a:t>
            </a:r>
          </a:p>
          <a:p>
            <a:pPr>
              <a:spcAft>
                <a:spcPts val="800"/>
              </a:spcAft>
              <a:defRPr sz="1300">
                <a:solidFill>
                  <a:srgbClr val="CCCCCC"/>
                </a:solidFill>
                <a:latin typeface="微软雅黑"/>
              </a:defRPr>
            </a:pPr>
          </a:p>
          <a:p>
            <a:pPr>
              <a:spcAft>
                <a:spcPts val="800"/>
              </a:spcAft>
              <a:defRPr sz="1300">
                <a:solidFill>
                  <a:srgbClr val="CCCCCC"/>
                </a:solidFill>
                <a:latin typeface="微软雅黑"/>
              </a:defRPr>
            </a:pPr>
            <a:r>
              <a:t>  3. 系统集成与测试</a:t>
            </a:r>
          </a:p>
          <a:p>
            <a:pPr>
              <a:spcAft>
                <a:spcPts val="800"/>
              </a:spcAft>
              <a:defRPr sz="1300">
                <a:solidFill>
                  <a:srgbClr val="CCCCCC"/>
                </a:solidFill>
                <a:latin typeface="微软雅黑"/>
              </a:defRPr>
            </a:pPr>
            <a:r>
              <a:t>     - 感知-决策-控制闭环</a:t>
            </a:r>
          </a:p>
          <a:p>
            <a:pPr>
              <a:spcAft>
                <a:spcPts val="800"/>
              </a:spcAft>
              <a:defRPr sz="1300">
                <a:solidFill>
                  <a:srgbClr val="CCCCCC"/>
                </a:solidFill>
                <a:latin typeface="微软雅黑"/>
              </a:defRPr>
            </a:pPr>
            <a:r>
              <a:t>     - 实车场景验证测试</a:t>
            </a:r>
          </a:p>
          <a:p>
            <a:pPr>
              <a:spcAft>
                <a:spcPts val="800"/>
              </a:spcAft>
              <a:defRPr sz="1300">
                <a:solidFill>
                  <a:srgbClr val="CCCCCC"/>
                </a:solidFill>
                <a:latin typeface="微软雅黑"/>
              </a:defRPr>
            </a:pPr>
          </a:p>
          <a:p>
            <a:pPr>
              <a:spcAft>
                <a:spcPts val="800"/>
              </a:spcAft>
              <a:defRPr sz="1300">
                <a:solidFill>
                  <a:srgbClr val="CCCCCC"/>
                </a:solidFill>
                <a:latin typeface="微软雅黑"/>
              </a:defRPr>
            </a:pPr>
            <a:r>
              <a:t>  4. 性能优化与报告</a:t>
            </a:r>
          </a:p>
          <a:p>
            <a:pPr>
              <a:spcAft>
                <a:spcPts val="800"/>
              </a:spcAft>
              <a:defRPr sz="1300">
                <a:solidFill>
                  <a:srgbClr val="CCCCCC"/>
                </a:solidFill>
                <a:latin typeface="微软雅黑"/>
              </a:defRPr>
            </a:pPr>
            <a:r>
              <a:t>     - 实时性能调优</a:t>
            </a:r>
          </a:p>
          <a:p>
            <a:pPr>
              <a:spcAft>
                <a:spcPts val="800"/>
              </a:spcAft>
              <a:defRPr sz="1300">
                <a:solidFill>
                  <a:srgbClr val="CCCCCC"/>
                </a:solidFill>
                <a:latin typeface="微软雅黑"/>
              </a:defRPr>
            </a:pPr>
            <a:r>
              <a:t>     - 实验数据收集与分析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微软雅黑"/>
              </a:defRPr>
            </a:pPr>
            <a:r>
              <a:t>谢谢！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4747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CCCCCC"/>
                </a:solidFill>
                <a:latin typeface="微软雅黑"/>
              </a:defRPr>
            </a:pPr>
            <a:r>
              <a:t>欢迎提问与讨论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4389120"/>
            <a:ext cx="3047695" cy="36576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